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8" y="-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74F5F5A-3D22-B15B-9CDF-409045771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409725"/>
              </p:ext>
            </p:extLst>
          </p:nvPr>
        </p:nvGraphicFramePr>
        <p:xfrm>
          <a:off x="754380" y="4511040"/>
          <a:ext cx="10005060" cy="18745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9744">
                  <a:extLst>
                    <a:ext uri="{9D8B030D-6E8A-4147-A177-3AD203B41FA5}">
                      <a16:colId xmlns:a16="http://schemas.microsoft.com/office/drawing/2014/main" val="745426992"/>
                    </a:ext>
                  </a:extLst>
                </a:gridCol>
                <a:gridCol w="2669111">
                  <a:extLst>
                    <a:ext uri="{9D8B030D-6E8A-4147-A177-3AD203B41FA5}">
                      <a16:colId xmlns:a16="http://schemas.microsoft.com/office/drawing/2014/main" val="1827246538"/>
                    </a:ext>
                  </a:extLst>
                </a:gridCol>
                <a:gridCol w="4256205">
                  <a:extLst>
                    <a:ext uri="{9D8B030D-6E8A-4147-A177-3AD203B41FA5}">
                      <a16:colId xmlns:a16="http://schemas.microsoft.com/office/drawing/2014/main" val="3944012189"/>
                    </a:ext>
                  </a:extLst>
                </a:gridCol>
              </a:tblGrid>
              <a:tr h="3112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00" dirty="0">
                          <a:effectLst/>
                        </a:rPr>
                        <a:t>Role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00">
                          <a:effectLst/>
                        </a:rPr>
                        <a:t>Name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00">
                          <a:effectLst/>
                        </a:rPr>
                        <a:t>Responsibility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895239455"/>
                  </a:ext>
                </a:extLst>
              </a:tr>
              <a:tr h="521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50" dirty="0">
                          <a:effectLst/>
                        </a:rPr>
                        <a:t>Strategic Lead &amp; Advisor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50">
                          <a:effectLst/>
                        </a:rPr>
                        <a:t>Sayed Enaytul Hoque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50">
                          <a:effectLst/>
                        </a:rPr>
                        <a:t>Overall direction, strategy and advisory guidance across all four projects.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3622056494"/>
                  </a:ext>
                </a:extLst>
              </a:tr>
              <a:tr h="521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50">
                          <a:effectLst/>
                        </a:rPr>
                        <a:t>Lead Developer &amp; Implementation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50" dirty="0">
                          <a:effectLst/>
                        </a:rPr>
                        <a:t>Md Mahmudul Islam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50">
                          <a:effectLst/>
                        </a:rPr>
                        <a:t>System design, development and implementation of all four projects.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9596220"/>
                  </a:ext>
                </a:extLst>
              </a:tr>
              <a:tr h="521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50">
                          <a:effectLst/>
                        </a:rPr>
                        <a:t>QA &amp; Validation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50">
                          <a:effectLst/>
                        </a:rPr>
                        <a:t>Wahed Zaman</a:t>
                      </a:r>
                      <a:endParaRPr lang="en-AU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950" dirty="0">
                          <a:effectLst/>
                        </a:rPr>
                        <a:t>Quality assurance, testing and validation of deliverables.</a:t>
                      </a:r>
                      <a:endParaRPr lang="en-AU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9850" marR="69850" marT="44450" marB="44450" anchor="ctr"/>
                </a:tc>
                <a:extLst>
                  <a:ext uri="{0D108BD9-81ED-4DB2-BD59-A6C34878D82A}">
                    <a16:rowId xmlns:a16="http://schemas.microsoft.com/office/drawing/2014/main" val="181188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046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463040" y="1463040"/>
            <a:ext cx="4114800" cy="4114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ENTERPRISE WORKFORCE &amp; PUNCH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011680"/>
            <a:ext cx="9326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/>
              <a:t>ATTENDANCE HUB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rPr dirty="0"/>
              <a:t>Intelligent GPS Geofencing, Multi-Channel Punch &amp; Real-Time Approval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749039"/>
            <a:ext cx="297180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🎯 Zero-Trust Punch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Haversine GPS 200m radius, Dynamic 30s QR &amp; IoT Biometric Scanner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3749039"/>
            <a:ext cx="297180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⚡ Admin Approval Flow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Out-of-bounds punch alerts, manager one-click approval &amp; instant push sync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749039"/>
            <a:ext cx="2971800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t>📱 Unified Dual-Suite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High-performance Next.js 14 Web Portal + Native Flutter Mobile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PLATFORM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Unified Enterprise Architecture &amp; Dual Synchronization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9436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Desktop Web Portal (Next.js 14)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Next.js 14 App Router, React 18, Tailwind CSS, Prisma ORM, Server Actions, NextAuth.js JWT authentication, and executive analytics.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9436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Native Mobile Suite (Flutter 3.3.4+)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Cross-platform Android &amp; iOS app with native Geolocator sensors, MobileScanner camera, locked live GPS tracking, and instant 2s real-time state 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9436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Persistence &amp; Database Engine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PostgreSQL database with Recursive Common Table Expressions (CTE) for dynamic organizational hierarchies and transactional audit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594360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Hardware &amp; Sensor API Gateway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Centralized REST endpoints with isolated x-api-key headers for physical biometric finger scanners, RFID cards, and facial recognition terminals.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463040"/>
            <a:ext cx="4510735" cy="4800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rPr dirty="0"/>
              <a:t>(Android)</a:t>
            </a:r>
            <a:br>
              <a:rPr dirty="0"/>
            </a:br>
            <a:r>
              <a:rPr dirty="0"/>
              <a:t>         │                           │</a:t>
            </a:r>
            <a:br>
              <a:rPr dirty="0"/>
            </a:br>
            <a:r>
              <a:rPr dirty="0"/>
              <a:t>         └─────────────┬─────────────┘</a:t>
            </a:r>
            <a:br>
              <a:rPr dirty="0"/>
            </a:br>
            <a:r>
              <a:rPr dirty="0"/>
              <a:t>                       ▼</a:t>
            </a:r>
            <a:br>
              <a:rPr dirty="0"/>
            </a:br>
            <a:r>
              <a:rPr dirty="0"/>
              <a:t>      [API GATEWAY &amp; NEXTAUTH JWT]</a:t>
            </a:r>
            <a:br>
              <a:rPr dirty="0"/>
            </a:br>
            <a:r>
              <a:rPr dirty="0"/>
              <a:t>         • Route Guards &amp; 7-Tier RBAC</a:t>
            </a:r>
            <a:br>
              <a:rPr dirty="0"/>
            </a:br>
            <a:r>
              <a:rPr dirty="0"/>
              <a:t>         • Strict Haversine GPS Recalculation</a:t>
            </a:r>
            <a:br>
              <a:rPr dirty="0"/>
            </a:br>
            <a:r>
              <a:rPr dirty="0"/>
              <a:t>                       ▼</a:t>
            </a:r>
            <a:br>
              <a:rPr dirty="0"/>
            </a:br>
            <a:r>
              <a:rPr dirty="0"/>
              <a:t>  ┌────────────────────┼────────────────────┐</a:t>
            </a:r>
            <a:br>
              <a:rPr dirty="0"/>
            </a:br>
            <a:r>
              <a:rPr dirty="0"/>
              <a:t>  ▼                    ▼                    ▼</a:t>
            </a:r>
            <a:br>
              <a:rPr dirty="0"/>
            </a:br>
            <a:r>
              <a:rPr dirty="0"/>
              <a:t>[PUNCH CORE]      [HR WORKFLOW]       [PAYROLL]</a:t>
            </a:r>
            <a:br>
              <a:rPr dirty="0"/>
            </a:br>
            <a:r>
              <a:rPr dirty="0"/>
              <a:t>• GPS Geofence    • Leaves &amp; Backup   • Deductions</a:t>
            </a:r>
            <a:br>
              <a:rPr dirty="0"/>
            </a:br>
            <a:r>
              <a:rPr dirty="0"/>
              <a:t>• 30s Dynamic QR  • Gate Passes       • Overtime</a:t>
            </a:r>
            <a:br>
              <a:rPr dirty="0"/>
            </a:br>
            <a:r>
              <a:rPr dirty="0"/>
              <a:t>• IoT Hardware    • Task Coverage     • Advances</a:t>
            </a:r>
            <a:br>
              <a:rPr dirty="0"/>
            </a:br>
            <a:r>
              <a:rPr dirty="0"/>
              <a:t>                       ▼</a:t>
            </a:r>
            <a:br>
              <a:rPr dirty="0"/>
            </a:br>
            <a:r>
              <a:rPr dirty="0"/>
              <a:t>     [PERSISTENCE: POSTGRESQL + PRISMA]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CORE FEATURE #1 • ZERO-TOUCH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Punch System: In-Office Geofenced Punch (Inside Bounds)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unch_inside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821577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0" y="1417320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1. Real-Time Haversine GPS Distance Calculation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The Flutter app acquires high-precision device coordinates via the native Geolocator sensor. The backend server recalculates the exact Haversine distance against configured office coordinates (Lat: 23.7330, Lng: 90.4172) to eliminate client-side spoofing.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633472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2. Visual In-Fence Indicator: 'Inside Geofence (45m)'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The live map renders the configured office 200m perimeter in emerald green with the employee pin safely inside. A prominent status badge confirms 'Inside Geofence (45m)' with verified GPS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849624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Instant Automated Validation (Auto-Verified / PRESENT)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When the employee taps 'PUNCH IN (IN-OFFICE)', the system validates that distance &lt;= 200m. The punch is immediately committed as PRESENT with zero administrative overhead.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5065776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4. Shift Grace Period &amp; Late Penalty Tracking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If the employee punches in past the configured company grace period (default: 15 minutes past 09:00 AM shift start), the system automatically flags late arrival minutes and assigns LATE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CORE FEATURE #2 • ANTI-FRAUD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Punch System: Out-of-Bounds Punch (Outside Location)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unch_outside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821577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0" y="1417320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EF4444"/>
                </a:solidFill>
              </a:defRPr>
            </a:pPr>
            <a:r>
              <a:t>1. Automated Perimeter Breach Detection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When an employee is situated outside the authorized 200m office boundary (e.g., in Dhanmondi or client premises, 850m away), the system immediately detects the out-of-bounds coordinate.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633472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Prominent Out-of-Bounds Warning: 'Outside Geofence (850m)'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The live GPS map renders a red alert perimeter and dotted vector line measuring exact distance. The app prominently alerts the employee with an amber badge: 'Outside Geofence (850m)'.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3849624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3. Exception Status Triggered: PENDING_APPROVAL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Tapping 'PUNCH IN (REQUEST APPROVAL)' prevents automatic attendance credit. The record is logged with status PENDING_APPROVAL alongside the exact street address and GPS coordinates.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5065776"/>
            <a:ext cx="7315200" cy="111556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4. Employee Awaiting Status Banner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Upon submission, the mobile interface immediately displays a persistent warning banner: 'Waiting for admin approval'. The punch remains pending until an authorized manager reviews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CORE FEATURE #3 • MANAGEMENT AUTHORIZATION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Admin Approval Workflow &amp; Real-Time Sync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dmin_approval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703320"/>
          </a:xfrm>
          <a:prstGeom prst="rect">
            <a:avLst/>
          </a:prstGeom>
        </p:spPr>
      </p:pic>
      <p:pic>
        <p:nvPicPr>
          <p:cNvPr id="6" name="Picture 5" descr="approval_received_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0"/>
            <a:ext cx="2821577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166360"/>
            <a:ext cx="6583680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Management Approval &amp; Instant Real-Time Mobile Push Pipeline: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The Admin Dashboard highlights pending out-of-bounds punches under 'Pending Location Approvals' with employee name, department, 850m distance tag, and exact address.</a:t>
            </a:r>
            <a:br/>
            <a:r>
              <a:t>• Managers authorize the attendance in 1-click using the [Approve Punch] action, instantly logging the status as PRESENT.</a:t>
            </a:r>
            <a:br/>
            <a:r>
              <a:t>• The employee's Flutter app detects authorization in 2 seconds, triggering a real-time celebration banner: 'Congratulations! Admin has approved your punch. Status updated to PRESENT.'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ZERO-TRUST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Multi-Channel Validation: Dynamic 30s QR &amp; IoT Biometric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qr_and_iot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6079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OPERATIONAL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Digital Job Card &amp; Individual Attendance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job_c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6079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COMPLETE HR LIFECYCLE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Organizational Hierarchy &amp; Automated HR Workflow Suites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org_and_workflows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60795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843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Mahmudul Islam</cp:lastModifiedBy>
  <cp:revision>2</cp:revision>
  <dcterms:created xsi:type="dcterms:W3CDTF">2013-01-27T09:14:16Z</dcterms:created>
  <dcterms:modified xsi:type="dcterms:W3CDTF">2026-10-15T07:53:56Z</dcterms:modified>
  <cp:category/>
</cp:coreProperties>
</file>