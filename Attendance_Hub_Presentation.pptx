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463040"/>
            <a:ext cx="384048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ENTERPRISE WORKFORCE &amp; PUNCH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011680"/>
            <a:ext cx="9326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ATTENDANCE HUB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Intelligent GPS Geofencing, Multi-Channel Punch &amp; Real-Time Approval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749039"/>
            <a:ext cx="297180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🎯 Zero-Trust Punch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Haversine GPS 200m radius, Dynamic 30s QR &amp; IoT Biometric Scanner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749039"/>
            <a:ext cx="297180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⚡ Admin Approval Flow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Out-of-bounds punch alerts, manager one-click approval &amp; instant push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749039"/>
            <a:ext cx="297180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📱 Unified Dual-Suite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High-performance Next.js 14 Web Portal + Native Flutter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532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Developed for Starling Cyber Security  |  Internal Executive &amp; Operational Submission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PLATFORM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Unified Enterprise Architecture &amp; Dual Synchronization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Desktop Web Portal (Next.js 14)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Next.js 14 App Router, React 18, Tailwind CSS, Prisma ORM, Server Actions, NextAuth.js JWT authentication, and executive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Native Mobile Suite (Flutter 3.3.4+)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Cross-platform Android &amp; iOS app with native Geolocator sensors, MobileScanner camera, locked live GPS tracking, and instant 2s real-time state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Persistence &amp; Persistence Engine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PostgreSQL database with Recursive Common Table Expressions (CTE) for dynamic organizational hierarchies and transactional audit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Hardware &amp; Sensor API Gateway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Centralized REST endpoints with isolated x-api-key headers for physical biometric finger scanners, RFID cards, and facial recognition terminals.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463040"/>
            <a:ext cx="4510735" cy="4800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CORE ARCHITECTURE MATRIX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[WEB CLIENT] ◄────────► [MOBILE APP]</a:t>
            </a:r>
            <a:br/>
            <a:r>
              <a:t>Next.js 14 Desktop           Flutter Native (Android)</a:t>
            </a:r>
            <a:br/>
            <a:r>
              <a:t>         │                           │</a:t>
            </a:r>
            <a:br/>
            <a:r>
              <a:t>         └─────────────┬─────────────┘</a:t>
            </a:r>
            <a:br/>
            <a:r>
              <a:t>                       ▼</a:t>
            </a:r>
            <a:br/>
            <a:r>
              <a:t>      [API GATEWAY &amp; NEXTAUTH JWT]</a:t>
            </a:r>
            <a:br/>
            <a:r>
              <a:t>         • Route Guards &amp; 7-Tier RBAC</a:t>
            </a:r>
            <a:br/>
            <a:r>
              <a:t>         • Strict Haversine GPS Recalculation</a:t>
            </a:r>
            <a:br/>
            <a:r>
              <a:t>                       ▼</a:t>
            </a:r>
            <a:br/>
            <a:r>
              <a:t>  ┌────────────────────┼────────────────────┐</a:t>
            </a:r>
            <a:br/>
            <a:r>
              <a:t>  ▼                    ▼                    ▼</a:t>
            </a:r>
            <a:br/>
            <a:r>
              <a:t>[PUNCH CORE]      [HR WORKFLOW]       [PAYROLL]</a:t>
            </a:r>
            <a:br/>
            <a:r>
              <a:t>• GPS Geofence    • Leaves &amp; Backup   • Deductions</a:t>
            </a:r>
            <a:br/>
            <a:r>
              <a:t>• 30s Dynamic QR  • Gate Passes       • Overtime</a:t>
            </a:r>
            <a:br/>
            <a:r>
              <a:t>• IoT Hardware    • Task Coverage     • Advances</a:t>
            </a:r>
            <a:br/>
            <a:r>
              <a:t>                       ▼</a:t>
            </a:r>
            <a:br/>
            <a:r>
              <a:t>     [PERSISTENCE: POSTGRESQL + PRISMA]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FEATURE #1 • ZERO-TOUCH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Punch System: In-Office Geofenced Punch (Inside Bounds)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nch_insid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21577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417320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1. Real-Time Haversine GPS Calculation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অ্যাপটি মোবাইল ডিভাইসের হাই-প্রিসিশন GPS সেন্সর (Geolocator) ব্যবহার করে সরাসরি অক্ষাংশ ও দ্রাঘিমাংশ নেয় এবং সার্ভার-সাইডে কনফিগার করা অফিস কো-অর্ডিনেটসের (SEED_OFFICE_LAT: 23.7330, LNG: 90.4172) সাথে দূরত্ব হিসাব করে।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633472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ভিজ্যুয়াল ইন্ডিকেটর (সীমানার ভেতরে - ৪৫ মিটার)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লাইভ ম্যাপে অফিস জিওফেন্স সার্কেলটি সবুজ (Emerald Green) কালারে দৃশ্যমান থাকে। ইউজার সীমানার (২০০ মিটারের) ভেতরে থাকলে স্ক্রিনের উপরে স্পষ্ট 'সীমানার ভেতরে (45m)' সবুজ ব্যাজ দেখায়।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849624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স্বয়ংক্রিয় ভ্যালিডেশন ও তাত্ক্ষণিক অনুমোদন (Auto-Verified)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কর্মচারী যখন 'পাঞ্চ ইন করুন (ইন-অফিস)' বাটনে ক্লিক করে, ব্যাকএন্ড তাত্ক্ষণিকভাবে যাচাই করে দেখে দূরত্ব &lt;= ২০০ মিটার। ফলে কোনো অ্যাডমিন অনুমোদনের প্রয়োজন হয় না। সরাসরি PRESENT হিসেবে ডেটাবেসে লগ হয়ে যায়।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065776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4. লেট গ্রেস পিরিয়ড চেক (Grace Threshold)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যদি কর্মচারী অফিসের শিফট শুরুর নির্ধারিত গ্রেস টাইম (যেমন: ১৫ মিনিট) পার করে পাঞ্চ করে, তবে সিস্টেম স্বয়ংক্রিয়ভাবে বিলম্ব মিনিট হিসাব করে স্ট্যাটাস LATE হিসেবে সংরক্ষণ করে।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FEATURE #2 • ANTI-FRAUD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Punch System: Out-of-Bounds Punch (Outside Location)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nch_outsid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21577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417320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1. জিওফেন্স সীমানা অতিক্রম সনাক্তকরণ (Out of Bounds Detection)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কর্মচারী যখন নির্ধারিত অফিস পরিধির (২০০ মিটার) বাইরে থাকে (যেমন: ধানমন্ডি বা ক্লায়েন্ট সাইট - ৮৫০ মিটার দূরে), সিস্টেম তাৎক্ষণিকভাবে লাইভ GPS ম্যাপে লাল অ্যালার্ট সার্কেল ও দূরত্বের ডটেড লাইন প্রদর্শন করে।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633472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ইউজার ইন্টারফেস অ্যালার্ট (সীমানার বাইরে - ৮৫০ মিটার)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অ্যাপে লাল/অ্যাম্বার সতর্কবার্তা ব্যাজ দৃশ্যমান হয়: 'সীমানার বাইরে (850m)'। ইউজারকে স্পষ্টভাবে জানানো হয় যে তিনি অফিসের রেডিয়াসের বাইরে অবস্থান করছেন।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849624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স্ট্যাটাস: PENDING_APPROVAL (অ্যাডমিন অনুমোদনের অপেক্ষায়)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কর্মচারী 'পাঞ্চ ইন করুন (অনুমোদনের আবেদন)' বাটনে ক্লিক করলে সিস্টেম সরাসরি প্রেজেন্ট না দিয়ে স্ট্যাটাসকে PENDING_APPROVAL হিসেবে চিহ্নিত করে এবং সাথে সঠিক GPS কো-অর্ডিনেট ও ঠিকানা সংরক্ষণ করে।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065776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4. কর্মচারীর স্ক্রিনে রিয়েল-টাইম পেন্ডিং ব্যানার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পাঞ্চ সফল হওয়ার পর কর্মচারীর মোবাইল হোমস্ক্রিনে উজ্জ্বল অ্যাম্বার নোটিফিকেশন প্রদর্শন করে: 'Waiting for admin approval'। অ্যাডমিন অনুমোদন না করা পর্যন্ত এটি পেন্ডিং মোডে থাকে।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FEATURE #3 • MANAGEMENT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Admin Approval Workflow &amp; Real-Time Sync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min_approval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703320"/>
          </a:xfrm>
          <a:prstGeom prst="rect">
            <a:avLst/>
          </a:prstGeom>
        </p:spPr>
      </p:pic>
      <p:pic>
        <p:nvPicPr>
          <p:cNvPr id="6" name="Picture 5" descr="approval_received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2821577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66360"/>
            <a:ext cx="658368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অ্যাডমিন অনুমোদন ও তাৎক্ষণিক মোবাইল সিঙ্ক্রোনাইজেশন ফ্লো: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অ্যাডমিন ড্যাশবোর্ডের 'Pending Location Approvals' প্যানেলে কর্মচারীর নাম, ৮৫০ মিটার দূরত্ব ও ঠিকানাসহ রিকোয়েস্ট দেখতে পান।</a:t>
            </a:r>
            <a:br/>
            <a:r>
              <a:t>• অ্যাডমিন [Approve Punch] বাটনে ক্লিক করামাত্রই ডেটাবেসে স্ট্যাটাস PRESENT হয়ে যায়।</a:t>
            </a:r>
            <a:br/>
            <a:r>
              <a:t>• কর্মচারীর Flutter অ্যাপ ২ সেকেন্ডের মধ্যে স্বয়ংক্রিয়ভাবে অনুমোদন শনাক্ত করে সবুজ ব্যানারসহ স্ট্যাটাস লাইভ আপডেট করে।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ZERO-TRUST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Multi-Channel Validation: Dynamic 30s QR &amp; IoT Biometric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d_iot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6079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OPERATIONAL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Digital Job Card &amp; Individual Attendance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ob_c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6079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COMPLETE HR LIFECYCLE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Organizational Hierarchy &amp; Automated HR Workflow Suites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g_and_workflows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6079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